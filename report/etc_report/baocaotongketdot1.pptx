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72" r:id="rId9"/>
    <p:sldId id="267" r:id="rId10"/>
    <p:sldId id="273" r:id="rId11"/>
    <p:sldId id="274" r:id="rId12"/>
    <p:sldId id="262" r:id="rId13"/>
    <p:sldId id="268" r:id="rId14"/>
    <p:sldId id="263" r:id="rId15"/>
    <p:sldId id="264" r:id="rId16"/>
    <p:sldId id="269" r:id="rId17"/>
    <p:sldId id="270" r:id="rId18"/>
    <p:sldId id="271" r:id="rId19"/>
    <p:sldId id="26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791" autoAdjust="0"/>
  </p:normalViewPr>
  <p:slideViewPr>
    <p:cSldViewPr snapToGrid="0">
      <p:cViewPr varScale="1">
        <p:scale>
          <a:sx n="93" d="100"/>
          <a:sy n="93" d="100"/>
        </p:scale>
        <p:origin x="12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FEADAE-02CE-4E9B-840E-927511B4C34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D8EAE8-A844-453B-B801-13B3B923A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87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- Tiến độ này là tiến độ như thế nào, tiến độ này là tiến độ ban đầu hay là tiến độ đề ra hay tiến độ đề ra =&gt; thêm 1 loại mũi tên có màu khác để phân biệt</a:t>
            </a:r>
          </a:p>
          <a:p>
            <a:pPr marL="0" indent="0">
              <a:buFontTx/>
              <a:buNone/>
            </a:pPr>
            <a:r>
              <a:rPr lang="vi-VN" dirty="0"/>
              <a:t>- Kéo dài thêm bảng cho tháng 11 để mọi người dễ hiểu hơn</a:t>
            </a:r>
          </a:p>
          <a:p>
            <a:pPr marL="0" indent="0">
              <a:buFontTx/>
              <a:buNone/>
            </a:pPr>
            <a:r>
              <a:rPr lang="vi-VN" dirty="0"/>
              <a:t>- Comment :Làm tài liệu thiết kế bị chậm nên sẽ để xuống dưới</a:t>
            </a:r>
          </a:p>
          <a:p>
            <a:pPr marL="171450" indent="-171450">
              <a:buFontTx/>
              <a:buChar char="-"/>
            </a:pPr>
            <a:r>
              <a:rPr lang="vi-VN" dirty="0"/>
              <a:t>Để dòng 1. Tiến độ công việc cho nó ngắn lại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8EAE8-A844-453B-B801-13B3B923AE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586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Giải thích video, tạo thêm 1 slide để ghi chú thêm mục đích tổng thể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8EAE8-A844-453B-B801-13B3B923AE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525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Giải thích video, tạo thêm 1 slide để ghi chú thêm mục đích tổng thể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8EAE8-A844-453B-B801-13B3B923AE4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11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dirty="0"/>
              <a:t>Giải thích video, tạo thêm 1 slide để ghi chú thêm mục đích tổng thể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8EAE8-A844-453B-B801-13B3B923AE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979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dirty="0"/>
              <a:t>Giải thích video, tạo thêm 1 slide để ghi chú thêm mục đích tổng thể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8EAE8-A844-453B-B801-13B3B923AE4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22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30161-DE29-2B7F-0F75-23805852A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9D30DF-308A-39EC-67AB-C51B52B20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0F15E4-5D89-264D-84CB-7F64266B9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So sánh thêm với những gì của tiến độ ban đầu, còn thiếu sót gì so với kì vọng của anh Tuấn cũng như theo kì vọng ban đầu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46497-B5E9-B5E9-2D30-A2247DEDA2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8EAE8-A844-453B-B801-13B3B923AE4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5660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So sánh thêm với những gì của tiến độ ban đầu, còn thiếu sót gì so với kì vọng của anh Tuấn cũng như theo kì vọng ban đầu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8EAE8-A844-453B-B801-13B3B923AE4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130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149B-2B11-4C6B-87D8-963B0DC5153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0F99-5417-47E2-8A7F-3DF54DFC901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793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149B-2B11-4C6B-87D8-963B0DC5153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0F99-5417-47E2-8A7F-3DF54DFC9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3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149B-2B11-4C6B-87D8-963B0DC5153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0F99-5417-47E2-8A7F-3DF54DFC901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018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149B-2B11-4C6B-87D8-963B0DC5153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0F99-5417-47E2-8A7F-3DF54DFC9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715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149B-2B11-4C6B-87D8-963B0DC5153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0F99-5417-47E2-8A7F-3DF54DFC9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921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149B-2B11-4C6B-87D8-963B0DC5153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0F99-5417-47E2-8A7F-3DF54DFC9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420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149B-2B11-4C6B-87D8-963B0DC5153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0F99-5417-47E2-8A7F-3DF54DFC9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230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78F149B-2B11-4C6B-87D8-963B0DC5153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A5F0F99-5417-47E2-8A7F-3DF54DFC9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486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149B-2B11-4C6B-87D8-963B0DC5153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0F99-5417-47E2-8A7F-3DF54DFC9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489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149B-2B11-4C6B-87D8-963B0DC5153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0F99-5417-47E2-8A7F-3DF54DFC9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841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149B-2B11-4C6B-87D8-963B0DC5153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0F99-5417-47E2-8A7F-3DF54DFC9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78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78F149B-2B11-4C6B-87D8-963B0DC5153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A5F0F99-5417-47E2-8A7F-3DF54DFC901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3457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169E0-633D-438A-767A-29B56BE17A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Báo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đợt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D8AB5F-0C6D-D49C-7892-2E9247D833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Nguyễn Thành Đạt</a:t>
            </a:r>
          </a:p>
        </p:txBody>
      </p:sp>
    </p:spTree>
    <p:extLst>
      <p:ext uri="{BB962C8B-B14F-4D97-AF65-F5344CB8AC3E}">
        <p14:creationId xmlns:p14="http://schemas.microsoft.com/office/powerpoint/2010/main" val="906580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FC1A6-DCCE-CE65-F215-45AFB93E7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668" y="645238"/>
            <a:ext cx="5588655" cy="1001423"/>
          </a:xfrm>
        </p:spPr>
        <p:txBody>
          <a:bodyPr/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báo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cáo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72F03-381C-BB53-A604-3259BD283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4429" y="2013154"/>
            <a:ext cx="10058400" cy="402336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</a:rPr>
              <a:t>1. Tiến </a:t>
            </a:r>
            <a:r>
              <a:rPr lang="en-US" sz="2800" dirty="0" err="1">
                <a:latin typeface="Arial" panose="020B0604020202020204" pitchFamily="34" charset="0"/>
              </a:rPr>
              <a:t>độ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công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việc</a:t>
            </a:r>
            <a:endParaRPr lang="en-US" sz="2800" dirty="0">
              <a:latin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</a:rPr>
              <a:t>2. Công </a:t>
            </a:r>
            <a:r>
              <a:rPr lang="en-US" sz="2800" dirty="0" err="1">
                <a:latin typeface="Arial" panose="020B0604020202020204" pitchFamily="34" charset="0"/>
              </a:rPr>
              <a:t>việc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đã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thực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hiện</a:t>
            </a:r>
            <a:endParaRPr lang="en-US" sz="2800" dirty="0">
              <a:latin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</a:rPr>
              <a:t>3. </a:t>
            </a:r>
            <a:r>
              <a:rPr lang="en-US" sz="2800" dirty="0" err="1">
                <a:latin typeface="Arial" panose="020B0604020202020204" pitchFamily="34" charset="0"/>
              </a:rPr>
              <a:t>Vấn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đề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gặp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phải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cách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khắc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phục</a:t>
            </a:r>
            <a:endParaRPr lang="en-US" sz="2800" dirty="0">
              <a:latin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</a:rPr>
              <a:t>4. </a:t>
            </a:r>
            <a:r>
              <a:rPr lang="en-US" sz="2800" dirty="0" err="1">
                <a:latin typeface="Arial" panose="020B0604020202020204" pitchFamily="34" charset="0"/>
              </a:rPr>
              <a:t>Triển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khai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công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việc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tháng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tiếp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theo</a:t>
            </a:r>
            <a:endParaRPr lang="en-US" sz="2800" dirty="0">
              <a:latin typeface="Arial" panose="020B0604020202020204" pitchFamily="34" charset="0"/>
            </a:endParaRPr>
          </a:p>
        </p:txBody>
      </p:sp>
      <p:pic>
        <p:nvPicPr>
          <p:cNvPr id="5" name="Picture 4" descr="A green circuit board with black buttons and a digital clock&#10;&#10;AI-generated content may be incorrect.">
            <a:extLst>
              <a:ext uri="{FF2B5EF4-FFF2-40B4-BE49-F238E27FC236}">
                <a16:creationId xmlns:a16="http://schemas.microsoft.com/office/drawing/2014/main" id="{0B4FD3B8-FCA2-E3F0-1223-A78F729EFF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024" y="3018657"/>
            <a:ext cx="3829511" cy="287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012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D7636-512C-FD7B-D578-A0354DB1B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5161B-172C-0F24-8267-A96EF9799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0446" y="2081708"/>
            <a:ext cx="6031107" cy="145075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1. Tiến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504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7C04B-D72E-7566-093B-76CE02FEC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48C90-F8AB-6BDA-2EDA-4AFC8B421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051" y="111682"/>
            <a:ext cx="6522720" cy="757654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1. Tiến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26211C3-7DC8-61BD-1E89-4E39B05FD7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3127622"/>
              </p:ext>
            </p:extLst>
          </p:nvPr>
        </p:nvGraphicFramePr>
        <p:xfrm>
          <a:off x="828961" y="982189"/>
          <a:ext cx="10102643" cy="428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231">
                  <a:extLst>
                    <a:ext uri="{9D8B030D-6E8A-4147-A177-3AD203B41FA5}">
                      <a16:colId xmlns:a16="http://schemas.microsoft.com/office/drawing/2014/main" val="4034845689"/>
                    </a:ext>
                  </a:extLst>
                </a:gridCol>
                <a:gridCol w="2453677">
                  <a:extLst>
                    <a:ext uri="{9D8B030D-6E8A-4147-A177-3AD203B41FA5}">
                      <a16:colId xmlns:a16="http://schemas.microsoft.com/office/drawing/2014/main" val="529507189"/>
                    </a:ext>
                  </a:extLst>
                </a:gridCol>
                <a:gridCol w="601885">
                  <a:extLst>
                    <a:ext uri="{9D8B030D-6E8A-4147-A177-3AD203B41FA5}">
                      <a16:colId xmlns:a16="http://schemas.microsoft.com/office/drawing/2014/main" val="3364164995"/>
                    </a:ext>
                  </a:extLst>
                </a:gridCol>
                <a:gridCol w="601885">
                  <a:extLst>
                    <a:ext uri="{9D8B030D-6E8A-4147-A177-3AD203B41FA5}">
                      <a16:colId xmlns:a16="http://schemas.microsoft.com/office/drawing/2014/main" val="1898967938"/>
                    </a:ext>
                  </a:extLst>
                </a:gridCol>
                <a:gridCol w="601885">
                  <a:extLst>
                    <a:ext uri="{9D8B030D-6E8A-4147-A177-3AD203B41FA5}">
                      <a16:colId xmlns:a16="http://schemas.microsoft.com/office/drawing/2014/main" val="3194634847"/>
                    </a:ext>
                  </a:extLst>
                </a:gridCol>
                <a:gridCol w="601885">
                  <a:extLst>
                    <a:ext uri="{9D8B030D-6E8A-4147-A177-3AD203B41FA5}">
                      <a16:colId xmlns:a16="http://schemas.microsoft.com/office/drawing/2014/main" val="1231228031"/>
                    </a:ext>
                  </a:extLst>
                </a:gridCol>
                <a:gridCol w="601885">
                  <a:extLst>
                    <a:ext uri="{9D8B030D-6E8A-4147-A177-3AD203B41FA5}">
                      <a16:colId xmlns:a16="http://schemas.microsoft.com/office/drawing/2014/main" val="1561390495"/>
                    </a:ext>
                  </a:extLst>
                </a:gridCol>
                <a:gridCol w="601885">
                  <a:extLst>
                    <a:ext uri="{9D8B030D-6E8A-4147-A177-3AD203B41FA5}">
                      <a16:colId xmlns:a16="http://schemas.microsoft.com/office/drawing/2014/main" val="1321233846"/>
                    </a:ext>
                  </a:extLst>
                </a:gridCol>
                <a:gridCol w="601885">
                  <a:extLst>
                    <a:ext uri="{9D8B030D-6E8A-4147-A177-3AD203B41FA5}">
                      <a16:colId xmlns:a16="http://schemas.microsoft.com/office/drawing/2014/main" val="680260757"/>
                    </a:ext>
                  </a:extLst>
                </a:gridCol>
                <a:gridCol w="601885">
                  <a:extLst>
                    <a:ext uri="{9D8B030D-6E8A-4147-A177-3AD203B41FA5}">
                      <a16:colId xmlns:a16="http://schemas.microsoft.com/office/drawing/2014/main" val="4283047301"/>
                    </a:ext>
                  </a:extLst>
                </a:gridCol>
                <a:gridCol w="601885">
                  <a:extLst>
                    <a:ext uri="{9D8B030D-6E8A-4147-A177-3AD203B41FA5}">
                      <a16:colId xmlns:a16="http://schemas.microsoft.com/office/drawing/2014/main" val="2727267166"/>
                    </a:ext>
                  </a:extLst>
                </a:gridCol>
                <a:gridCol w="601885">
                  <a:extLst>
                    <a:ext uri="{9D8B030D-6E8A-4147-A177-3AD203B41FA5}">
                      <a16:colId xmlns:a16="http://schemas.microsoft.com/office/drawing/2014/main" val="4039033167"/>
                    </a:ext>
                  </a:extLst>
                </a:gridCol>
                <a:gridCol w="601885">
                  <a:extLst>
                    <a:ext uri="{9D8B030D-6E8A-4147-A177-3AD203B41FA5}">
                      <a16:colId xmlns:a16="http://schemas.microsoft.com/office/drawing/2014/main" val="1335954844"/>
                    </a:ext>
                  </a:extLst>
                </a:gridCol>
              </a:tblGrid>
              <a:tr h="0"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Công </a:t>
                      </a:r>
                      <a:r>
                        <a:rPr lang="en-US" sz="2000" b="0" dirty="0" err="1"/>
                        <a:t>việc</a:t>
                      </a:r>
                      <a:endParaRPr lang="en-US" sz="2000" b="0" dirty="0"/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Tháng</a:t>
                      </a:r>
                      <a:r>
                        <a:rPr lang="en-US" sz="1600" dirty="0"/>
                        <a:t> 9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Tháng</a:t>
                      </a:r>
                      <a:r>
                        <a:rPr lang="en-US" sz="1600" dirty="0"/>
                        <a:t> 10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Tháng</a:t>
                      </a:r>
                      <a:r>
                        <a:rPr lang="en-US" sz="1600" dirty="0"/>
                        <a:t> 11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63186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Tuần</a:t>
                      </a:r>
                      <a:r>
                        <a:rPr lang="en-US" sz="1100" dirty="0"/>
                        <a:t> 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Tuần</a:t>
                      </a:r>
                      <a:r>
                        <a:rPr lang="en-US" sz="1100" dirty="0"/>
                        <a:t> 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Tuần</a:t>
                      </a:r>
                      <a:r>
                        <a:rPr lang="en-US" sz="1100" dirty="0"/>
                        <a:t> 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Tuần</a:t>
                      </a:r>
                      <a:r>
                        <a:rPr lang="en-US" sz="1100" dirty="0"/>
                        <a:t> 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Tuần</a:t>
                      </a:r>
                      <a:r>
                        <a:rPr lang="en-US" sz="1100" dirty="0"/>
                        <a:t> 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Tuần</a:t>
                      </a:r>
                      <a:r>
                        <a:rPr lang="en-US" sz="1100" dirty="0"/>
                        <a:t> 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Tuần</a:t>
                      </a:r>
                      <a:r>
                        <a:rPr lang="en-US" sz="1100" dirty="0"/>
                        <a:t> 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Tuần</a:t>
                      </a:r>
                      <a:r>
                        <a:rPr lang="en-US" sz="1100" dirty="0"/>
                        <a:t> 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Tuần</a:t>
                      </a:r>
                      <a:r>
                        <a:rPr lang="en-US" sz="1100" dirty="0"/>
                        <a:t> 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Tuần</a:t>
                      </a:r>
                      <a:r>
                        <a:rPr lang="en-US" sz="1100" dirty="0"/>
                        <a:t> 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Tuần</a:t>
                      </a:r>
                      <a:r>
                        <a:rPr lang="en-US" sz="1100" dirty="0"/>
                        <a:t> 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32270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Hiển </a:t>
                      </a:r>
                      <a:r>
                        <a:rPr lang="en-US" sz="1200" dirty="0" err="1"/>
                        <a:t>thị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nhiệt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độ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trên</a:t>
                      </a:r>
                      <a:r>
                        <a:rPr lang="en-US" sz="1200" dirty="0"/>
                        <a:t> ADT7420 qua </a:t>
                      </a:r>
                      <a:r>
                        <a:rPr lang="en-US" sz="1200" dirty="0" err="1"/>
                        <a:t>giao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thức</a:t>
                      </a:r>
                      <a:r>
                        <a:rPr lang="en-US" sz="1200" dirty="0"/>
                        <a:t> I2C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Tìm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hiểu</a:t>
                      </a:r>
                      <a:r>
                        <a:rPr lang="en-US" sz="1600" dirty="0"/>
                        <a:t> I2C </a:t>
                      </a:r>
                      <a:r>
                        <a:rPr lang="en-US" sz="1600" dirty="0" err="1"/>
                        <a:t>và</a:t>
                      </a:r>
                      <a:r>
                        <a:rPr lang="en-US" sz="1600" dirty="0"/>
                        <a:t> ADT7420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623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Thiết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kế</a:t>
                      </a:r>
                      <a:r>
                        <a:rPr lang="en-US" sz="1600" dirty="0"/>
                        <a:t> I2C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4159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Thiết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kế</a:t>
                      </a:r>
                      <a:r>
                        <a:rPr lang="en-US" sz="1600" dirty="0"/>
                        <a:t> I2C </a:t>
                      </a:r>
                      <a:r>
                        <a:rPr lang="en-US" sz="1600" dirty="0" err="1"/>
                        <a:t>với</a:t>
                      </a:r>
                      <a:r>
                        <a:rPr lang="en-US" sz="1600" dirty="0"/>
                        <a:t> ADT7420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94285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err="1">
                          <a:solidFill>
                            <a:schemeClr val="bg1"/>
                          </a:solidFill>
                        </a:rPr>
                        <a:t>Làm</a:t>
                      </a:r>
                      <a:r>
                        <a:rPr lang="en-US" sz="1600" i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i="0" dirty="0" err="1">
                          <a:solidFill>
                            <a:schemeClr val="bg1"/>
                          </a:solidFill>
                        </a:rPr>
                        <a:t>tài</a:t>
                      </a:r>
                      <a:r>
                        <a:rPr lang="en-US" sz="1600" i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i="0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r>
                        <a:rPr lang="en-US" sz="1600" i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i="0" dirty="0" err="1">
                          <a:solidFill>
                            <a:schemeClr val="bg1"/>
                          </a:solidFill>
                        </a:rPr>
                        <a:t>thiết</a:t>
                      </a:r>
                      <a:r>
                        <a:rPr lang="en-US" sz="1600" i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i="0" dirty="0" err="1">
                          <a:solidFill>
                            <a:schemeClr val="bg1"/>
                          </a:solidFill>
                        </a:rPr>
                        <a:t>kế</a:t>
                      </a:r>
                      <a:endParaRPr lang="en-US" sz="1600" i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626512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Hiển </a:t>
                      </a:r>
                      <a:r>
                        <a:rPr lang="en-US" sz="1200" dirty="0" err="1"/>
                        <a:t>thị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nhiệt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độ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góc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theo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trong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hệ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tạo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độ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Oxyz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với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cảm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biến</a:t>
                      </a:r>
                      <a:r>
                        <a:rPr lang="en-US" sz="1200" dirty="0"/>
                        <a:t> ADXL362 </a:t>
                      </a:r>
                      <a:r>
                        <a:rPr lang="en-US" sz="1200" dirty="0" err="1"/>
                        <a:t>với</a:t>
                      </a:r>
                      <a:r>
                        <a:rPr lang="en-US" sz="1200" dirty="0"/>
                        <a:t> SPI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Tìm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hiểu</a:t>
                      </a:r>
                      <a:r>
                        <a:rPr lang="en-US" sz="1600" dirty="0"/>
                        <a:t> SPI </a:t>
                      </a:r>
                      <a:r>
                        <a:rPr lang="en-US" sz="1600" dirty="0" err="1"/>
                        <a:t>và</a:t>
                      </a:r>
                      <a:r>
                        <a:rPr lang="en-US" sz="1600" dirty="0"/>
                        <a:t> ADXL362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32832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Thiết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kế</a:t>
                      </a:r>
                      <a:r>
                        <a:rPr lang="en-US" sz="1600" dirty="0"/>
                        <a:t> SPI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538847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Thiết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kế</a:t>
                      </a:r>
                      <a:r>
                        <a:rPr lang="en-US" sz="1600" dirty="0"/>
                        <a:t> SPI </a:t>
                      </a:r>
                      <a:r>
                        <a:rPr lang="en-US" sz="1600" dirty="0" err="1"/>
                        <a:t>với</a:t>
                      </a:r>
                      <a:r>
                        <a:rPr lang="en-US" sz="1600" dirty="0"/>
                        <a:t> ADXL362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0552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Thiết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kế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IP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53678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Làm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tài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thiết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kế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995178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Giao </a:t>
                      </a:r>
                      <a:r>
                        <a:rPr lang="en-US" sz="1200" dirty="0" err="1"/>
                        <a:t>tiếp</a:t>
                      </a:r>
                      <a:r>
                        <a:rPr lang="en-US" sz="1200" dirty="0"/>
                        <a:t> UART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Tìm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hiểu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về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giao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tiếp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UART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52036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Thiết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kế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UART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879822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5429A967-D30B-F257-8D55-DB7205C8F114}"/>
              </a:ext>
            </a:extLst>
          </p:cNvPr>
          <p:cNvSpPr/>
          <p:nvPr/>
        </p:nvSpPr>
        <p:spPr>
          <a:xfrm>
            <a:off x="4317264" y="1562891"/>
            <a:ext cx="1108176" cy="193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72713BB-B614-3D9C-28C0-0ABDF0590EB8}"/>
              </a:ext>
            </a:extLst>
          </p:cNvPr>
          <p:cNvSpPr/>
          <p:nvPr/>
        </p:nvSpPr>
        <p:spPr>
          <a:xfrm>
            <a:off x="5515208" y="1898732"/>
            <a:ext cx="597458" cy="193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9E57B65-B86C-2727-F629-18954E46ED3B}"/>
              </a:ext>
            </a:extLst>
          </p:cNvPr>
          <p:cNvSpPr/>
          <p:nvPr/>
        </p:nvSpPr>
        <p:spPr>
          <a:xfrm flipV="1">
            <a:off x="6133214" y="2249194"/>
            <a:ext cx="1169695" cy="207485"/>
          </a:xfrm>
          <a:prstGeom prst="rightArrow">
            <a:avLst>
              <a:gd name="adj1" fmla="val 49999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2C5A015-B770-8B41-8D9C-BC3B5A8CADA3}"/>
              </a:ext>
            </a:extLst>
          </p:cNvPr>
          <p:cNvSpPr/>
          <p:nvPr/>
        </p:nvSpPr>
        <p:spPr>
          <a:xfrm>
            <a:off x="7302909" y="2941607"/>
            <a:ext cx="609600" cy="2074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3C1CF76-B141-6A3C-C919-5D45A44A6E6D}"/>
              </a:ext>
            </a:extLst>
          </p:cNvPr>
          <p:cNvSpPr/>
          <p:nvPr/>
        </p:nvSpPr>
        <p:spPr>
          <a:xfrm>
            <a:off x="7961726" y="3265087"/>
            <a:ext cx="1070514" cy="1639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8433211-CB5D-5461-AAC9-FF764EE2D7FF}"/>
              </a:ext>
            </a:extLst>
          </p:cNvPr>
          <p:cNvSpPr/>
          <p:nvPr/>
        </p:nvSpPr>
        <p:spPr>
          <a:xfrm>
            <a:off x="9149322" y="3601150"/>
            <a:ext cx="1194318" cy="186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C8387890-0BD0-569F-2DDE-9CCAA56ACDA9}"/>
              </a:ext>
            </a:extLst>
          </p:cNvPr>
          <p:cNvSpPr/>
          <p:nvPr/>
        </p:nvSpPr>
        <p:spPr>
          <a:xfrm>
            <a:off x="1862254" y="5865541"/>
            <a:ext cx="1260087" cy="1784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0CA88E-EDA3-0F6A-1B50-E1A6C57D9F86}"/>
              </a:ext>
            </a:extLst>
          </p:cNvPr>
          <p:cNvSpPr txBox="1"/>
          <p:nvPr/>
        </p:nvSpPr>
        <p:spPr>
          <a:xfrm>
            <a:off x="3144179" y="5764138"/>
            <a:ext cx="277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Tiến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chỉnh</a:t>
            </a:r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8A64259-794B-0943-F53F-64BFDD6B8E63}"/>
              </a:ext>
            </a:extLst>
          </p:cNvPr>
          <p:cNvSpPr/>
          <p:nvPr/>
        </p:nvSpPr>
        <p:spPr>
          <a:xfrm>
            <a:off x="5572999" y="5876991"/>
            <a:ext cx="1260087" cy="178420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BE4EE9-D8C4-F6BA-2303-96FE863D7A0F}"/>
              </a:ext>
            </a:extLst>
          </p:cNvPr>
          <p:cNvSpPr txBox="1"/>
          <p:nvPr/>
        </p:nvSpPr>
        <p:spPr>
          <a:xfrm>
            <a:off x="6833086" y="5764138"/>
            <a:ext cx="277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Tiến </a:t>
            </a:r>
            <a:r>
              <a:rPr lang="en-US" dirty="0" err="1"/>
              <a:t>độ</a:t>
            </a:r>
            <a:r>
              <a:rPr lang="en-US" dirty="0"/>
              <a:t> ban </a:t>
            </a:r>
            <a:r>
              <a:rPr lang="en-US" dirty="0" err="1"/>
              <a:t>đầu</a:t>
            </a:r>
            <a:endParaRPr lang="en-US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94CB7EDB-F148-1F64-1267-A95ACC6FE620}"/>
              </a:ext>
            </a:extLst>
          </p:cNvPr>
          <p:cNvSpPr/>
          <p:nvPr/>
        </p:nvSpPr>
        <p:spPr>
          <a:xfrm>
            <a:off x="4917750" y="2076728"/>
            <a:ext cx="597458" cy="162658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7AC28DC-2CD2-499B-7D06-68ED1CC02286}"/>
              </a:ext>
            </a:extLst>
          </p:cNvPr>
          <p:cNvSpPr/>
          <p:nvPr/>
        </p:nvSpPr>
        <p:spPr>
          <a:xfrm>
            <a:off x="4323621" y="1692960"/>
            <a:ext cx="547339" cy="193658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D2828D4D-043B-2343-2ECB-595F71C2C89F}"/>
              </a:ext>
            </a:extLst>
          </p:cNvPr>
          <p:cNvSpPr/>
          <p:nvPr/>
        </p:nvSpPr>
        <p:spPr>
          <a:xfrm>
            <a:off x="5515208" y="2398241"/>
            <a:ext cx="597458" cy="162658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DEE53C4-1727-7DDE-DE2A-C46B8829BB91}"/>
              </a:ext>
            </a:extLst>
          </p:cNvPr>
          <p:cNvSpPr/>
          <p:nvPr/>
        </p:nvSpPr>
        <p:spPr>
          <a:xfrm>
            <a:off x="5515208" y="2714219"/>
            <a:ext cx="597458" cy="162658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5DDBDC09-7C75-0B72-A09E-AFDAAFBF1FB2}"/>
              </a:ext>
            </a:extLst>
          </p:cNvPr>
          <p:cNvSpPr/>
          <p:nvPr/>
        </p:nvSpPr>
        <p:spPr>
          <a:xfrm>
            <a:off x="6141622" y="3113804"/>
            <a:ext cx="580644" cy="207486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CDBC76C4-2157-5320-9005-E2CBC7129D2A}"/>
              </a:ext>
            </a:extLst>
          </p:cNvPr>
          <p:cNvSpPr/>
          <p:nvPr/>
        </p:nvSpPr>
        <p:spPr>
          <a:xfrm>
            <a:off x="6722266" y="3391885"/>
            <a:ext cx="580644" cy="207486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AF166F5E-D35B-910A-DEB9-A265EF8C2791}"/>
              </a:ext>
            </a:extLst>
          </p:cNvPr>
          <p:cNvSpPr/>
          <p:nvPr/>
        </p:nvSpPr>
        <p:spPr>
          <a:xfrm>
            <a:off x="7341996" y="4340657"/>
            <a:ext cx="580644" cy="207486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D19CD492-568F-E22E-6BFE-768629C0A234}"/>
              </a:ext>
            </a:extLst>
          </p:cNvPr>
          <p:cNvSpPr/>
          <p:nvPr/>
        </p:nvSpPr>
        <p:spPr>
          <a:xfrm>
            <a:off x="6722266" y="3683970"/>
            <a:ext cx="580644" cy="207486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AC4E05BC-CAF2-D727-986B-C4CABAA65C88}"/>
              </a:ext>
            </a:extLst>
          </p:cNvPr>
          <p:cNvSpPr/>
          <p:nvPr/>
        </p:nvSpPr>
        <p:spPr>
          <a:xfrm>
            <a:off x="7341996" y="4011875"/>
            <a:ext cx="580644" cy="207486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061F09B1-E10A-72DE-A1E3-04DEDF4C04C3}"/>
              </a:ext>
            </a:extLst>
          </p:cNvPr>
          <p:cNvSpPr/>
          <p:nvPr/>
        </p:nvSpPr>
        <p:spPr>
          <a:xfrm>
            <a:off x="7961726" y="4651445"/>
            <a:ext cx="580644" cy="207486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52C88435-303B-3C12-17CC-92DA8528376C}"/>
              </a:ext>
            </a:extLst>
          </p:cNvPr>
          <p:cNvSpPr/>
          <p:nvPr/>
        </p:nvSpPr>
        <p:spPr>
          <a:xfrm>
            <a:off x="8542370" y="4953234"/>
            <a:ext cx="580644" cy="207486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DB6BC0C5-04C7-A1CF-FDB3-CD97EA4EF4EA}"/>
              </a:ext>
            </a:extLst>
          </p:cNvPr>
          <p:cNvSpPr/>
          <p:nvPr/>
        </p:nvSpPr>
        <p:spPr>
          <a:xfrm flipV="1">
            <a:off x="10343640" y="2605520"/>
            <a:ext cx="597458" cy="186563"/>
          </a:xfrm>
          <a:prstGeom prst="rightArrow">
            <a:avLst>
              <a:gd name="adj1" fmla="val 49999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1F8AC9C5-8D27-E8E2-A3BF-D8B0387601D2}"/>
              </a:ext>
            </a:extLst>
          </p:cNvPr>
          <p:cNvSpPr/>
          <p:nvPr/>
        </p:nvSpPr>
        <p:spPr>
          <a:xfrm flipV="1">
            <a:off x="10343640" y="3972177"/>
            <a:ext cx="597458" cy="186563"/>
          </a:xfrm>
          <a:prstGeom prst="rightArrow">
            <a:avLst>
              <a:gd name="adj1" fmla="val 49999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D8BD0EFD-725B-F64C-2620-65BD51E0DDEF}"/>
              </a:ext>
            </a:extLst>
          </p:cNvPr>
          <p:cNvSpPr/>
          <p:nvPr/>
        </p:nvSpPr>
        <p:spPr>
          <a:xfrm flipV="1">
            <a:off x="10343640" y="4306101"/>
            <a:ext cx="597458" cy="186563"/>
          </a:xfrm>
          <a:prstGeom prst="rightArrow">
            <a:avLst>
              <a:gd name="adj1" fmla="val 49999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65B1B89-D20C-6126-5454-1EC02BFFC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668" y="5661468"/>
            <a:ext cx="714475" cy="42868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93D88C0-A2DE-A818-19A3-087CA4E1EFC4}"/>
              </a:ext>
            </a:extLst>
          </p:cNvPr>
          <p:cNvSpPr txBox="1"/>
          <p:nvPr/>
        </p:nvSpPr>
        <p:spPr>
          <a:xfrm>
            <a:off x="9736688" y="5542375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Công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940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36C8A-E51A-0C05-361B-7DA57A440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F01F-B29F-89A2-04AB-71E4363A1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1. Tiến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669F9-DA1A-2CD2-3A26-9D1ADCC83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</a:rPr>
              <a:t>- </a:t>
            </a:r>
            <a:r>
              <a:rPr lang="en-US" sz="2800" dirty="0" err="1">
                <a:latin typeface="Arial" panose="020B0604020202020204" pitchFamily="34" charset="0"/>
              </a:rPr>
              <a:t>Phần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làm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tài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liệu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cho</a:t>
            </a:r>
            <a:r>
              <a:rPr lang="en-US" sz="2800" dirty="0">
                <a:latin typeface="Arial" panose="020B0604020202020204" pitchFamily="34" charset="0"/>
              </a:rPr>
              <a:t> I2C </a:t>
            </a:r>
            <a:r>
              <a:rPr lang="en-US" sz="2800" dirty="0" err="1">
                <a:latin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</a:rPr>
              <a:t> SPI </a:t>
            </a:r>
            <a:r>
              <a:rPr lang="en-US" sz="2800" dirty="0" err="1">
                <a:latin typeface="Arial" panose="020B0604020202020204" pitchFamily="34" charset="0"/>
              </a:rPr>
              <a:t>sẽ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làm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cùng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nhau</a:t>
            </a:r>
            <a:r>
              <a:rPr lang="en-US" sz="2800" dirty="0">
                <a:latin typeface="Arial" panose="020B0604020202020204" pitchFamily="34" charset="0"/>
              </a:rPr>
              <a:t> ở </a:t>
            </a:r>
            <a:r>
              <a:rPr lang="en-US" sz="2800" dirty="0" err="1">
                <a:latin typeface="Arial" panose="020B0604020202020204" pitchFamily="34" charset="0"/>
              </a:rPr>
              <a:t>khoảng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thời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gian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hoàn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thành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thiết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kế</a:t>
            </a:r>
            <a:r>
              <a:rPr lang="en-US" sz="2800" dirty="0">
                <a:latin typeface="Arial" panose="020B0604020202020204" pitchFamily="34" charset="0"/>
              </a:rPr>
              <a:t> SPI</a:t>
            </a:r>
          </a:p>
          <a:p>
            <a:r>
              <a:rPr lang="en-US" sz="2800" dirty="0">
                <a:latin typeface="Arial" panose="020B0604020202020204" pitchFamily="34" charset="0"/>
              </a:rPr>
              <a:t>- Tiến </a:t>
            </a:r>
            <a:r>
              <a:rPr lang="en-US" sz="2800" dirty="0" err="1">
                <a:latin typeface="Arial" panose="020B0604020202020204" pitchFamily="34" charset="0"/>
              </a:rPr>
              <a:t>độ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hiện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tại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đang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nằm</a:t>
            </a:r>
            <a:r>
              <a:rPr lang="en-US" sz="2800" dirty="0">
                <a:latin typeface="Arial" panose="020B0604020202020204" pitchFamily="34" charset="0"/>
              </a:rPr>
              <a:t> ở </a:t>
            </a:r>
            <a:r>
              <a:rPr lang="en-US" sz="2800" dirty="0" err="1">
                <a:latin typeface="Arial" panose="020B0604020202020204" pitchFamily="34" charset="0"/>
              </a:rPr>
              <a:t>thiết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kế</a:t>
            </a:r>
            <a:r>
              <a:rPr lang="en-US" sz="2800" dirty="0">
                <a:latin typeface="Arial" panose="020B0604020202020204" pitchFamily="34" charset="0"/>
              </a:rPr>
              <a:t> SPI </a:t>
            </a:r>
            <a:r>
              <a:rPr lang="en-US" sz="2800" dirty="0" err="1">
                <a:latin typeface="Arial" panose="020B0604020202020204" pitchFamily="34" charset="0"/>
              </a:rPr>
              <a:t>cho</a:t>
            </a:r>
            <a:r>
              <a:rPr lang="en-US" sz="2800" dirty="0">
                <a:latin typeface="Arial" panose="020B0604020202020204" pitchFamily="34" charset="0"/>
              </a:rPr>
              <a:t> ADXL362 (</a:t>
            </a:r>
            <a:r>
              <a:rPr lang="en-US" sz="2800" dirty="0" err="1">
                <a:latin typeface="Arial" panose="020B0604020202020204" pitchFamily="34" charset="0"/>
              </a:rPr>
              <a:t>tính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toán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giá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trị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góc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sửa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lại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lỗi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trong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quá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trình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giao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tiếp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cảm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biến</a:t>
            </a:r>
            <a:r>
              <a:rPr lang="en-US" sz="2800" dirty="0">
                <a:latin typeface="Arial" panose="020B0604020202020204" pitchFamily="34" charset="0"/>
              </a:rPr>
              <a:t>)</a:t>
            </a:r>
          </a:p>
          <a:p>
            <a:endParaRPr lang="en-US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410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4B57D-78E5-B324-7C13-2CBF2A461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06D22-019B-1F74-9785-DAA16C04D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6752" y="2416004"/>
            <a:ext cx="8118496" cy="145075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 Công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532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3ED6B-CF76-4B2A-C21F-5629D1F12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13279-EBEA-BEEE-9C5C-1825F7AB9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784" y="-95235"/>
            <a:ext cx="10058400" cy="145075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 Công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EBE59-7F37-62AF-523C-EB41EA9EE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07" y="2049445"/>
            <a:ext cx="2258869" cy="3708698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</a:rPr>
              <a:t> ADT7420, </a:t>
            </a:r>
            <a:r>
              <a:rPr lang="en-US" sz="2800" dirty="0" err="1">
                <a:latin typeface="Arial" panose="020B0604020202020204" pitchFamily="34" charset="0"/>
              </a:rPr>
              <a:t>đã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hiển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thị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giá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trị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nhiệt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độ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lên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trên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đèn</a:t>
            </a:r>
            <a:r>
              <a:rPr lang="en-US" sz="2800" dirty="0">
                <a:latin typeface="Arial" panose="020B0604020202020204" pitchFamily="34" charset="0"/>
              </a:rPr>
              <a:t> LED </a:t>
            </a:r>
            <a:r>
              <a:rPr lang="en-US" sz="2800" dirty="0" err="1">
                <a:latin typeface="Arial" panose="020B0604020202020204" pitchFamily="34" charset="0"/>
              </a:rPr>
              <a:t>đơn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thông</a:t>
            </a:r>
            <a:r>
              <a:rPr lang="en-US" sz="2800" dirty="0">
                <a:latin typeface="Arial" panose="020B0604020202020204" pitchFamily="34" charset="0"/>
              </a:rPr>
              <a:t> qua </a:t>
            </a:r>
            <a:r>
              <a:rPr lang="en-US" sz="2800" dirty="0" err="1">
                <a:latin typeface="Arial" panose="020B0604020202020204" pitchFamily="34" charset="0"/>
              </a:rPr>
              <a:t>giao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thức</a:t>
            </a:r>
            <a:r>
              <a:rPr lang="en-US" sz="2800" dirty="0">
                <a:latin typeface="Arial" panose="020B0604020202020204" pitchFamily="34" charset="0"/>
              </a:rPr>
              <a:t> I2C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4696CE-E4D7-1CAD-454A-E28CDBA52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596" y="2049445"/>
            <a:ext cx="6363588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380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3ED6B-CF76-4B2A-C21F-5629D1F12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13279-EBEA-BEEE-9C5C-1825F7AB9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784" y="-95235"/>
            <a:ext cx="10058400" cy="145075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 Công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EBE59-7F37-62AF-523C-EB41EA9EE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528" y="1979972"/>
            <a:ext cx="5028752" cy="3708698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bài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hiển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thị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nhiệt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độ</a:t>
            </a:r>
            <a:r>
              <a:rPr lang="en-US" sz="2800" dirty="0">
                <a:latin typeface="Arial" panose="020B0604020202020204" pitchFamily="34" charset="0"/>
              </a:rPr>
              <a:t> qua ADT7420 </a:t>
            </a:r>
            <a:r>
              <a:rPr lang="en-US" sz="2800" dirty="0" err="1">
                <a:latin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</a:rPr>
              <a:t> I2C</a:t>
            </a:r>
          </a:p>
          <a:p>
            <a:r>
              <a:rPr lang="en-US" sz="2800" dirty="0">
                <a:latin typeface="Arial" panose="020B0604020202020204" pitchFamily="34" charset="0"/>
              </a:rPr>
              <a:t>Hiển </a:t>
            </a:r>
            <a:r>
              <a:rPr lang="en-US" sz="2800" dirty="0" err="1">
                <a:latin typeface="Arial" panose="020B0604020202020204" pitchFamily="34" charset="0"/>
              </a:rPr>
              <a:t>thị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lên</a:t>
            </a:r>
            <a:r>
              <a:rPr lang="en-US" sz="2800" dirty="0">
                <a:latin typeface="Arial" panose="020B0604020202020204" pitchFamily="34" charset="0"/>
              </a:rPr>
              <a:t> 8 LED </a:t>
            </a:r>
            <a:r>
              <a:rPr lang="en-US" sz="2800" dirty="0" err="1">
                <a:latin typeface="Arial" panose="020B0604020202020204" pitchFamily="34" charset="0"/>
              </a:rPr>
              <a:t>đơn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</a:rPr>
              <a:t> 6 LED </a:t>
            </a:r>
            <a:r>
              <a:rPr lang="en-US" sz="2800" dirty="0" err="1">
                <a:latin typeface="Arial" panose="020B0604020202020204" pitchFamily="34" charset="0"/>
              </a:rPr>
              <a:t>đầu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thể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hiện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phần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nguyên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tương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ứng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giá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trị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trên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hình</a:t>
            </a:r>
            <a:r>
              <a:rPr lang="en-US" sz="2800" dirty="0">
                <a:latin typeface="Arial" panose="020B0604020202020204" pitchFamily="34" charset="0"/>
              </a:rPr>
              <a:t>, 2 LED </a:t>
            </a:r>
            <a:r>
              <a:rPr lang="en-US" sz="2800" dirty="0" err="1">
                <a:latin typeface="Arial" panose="020B0604020202020204" pitchFamily="34" charset="0"/>
              </a:rPr>
              <a:t>sau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thể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hiện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phần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thập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phân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400578-AFC1-82DF-9E9C-96BA80B15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842" y="3018698"/>
            <a:ext cx="4599320" cy="124654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5AD57BE-4B80-29D3-F5F8-46D236135663}"/>
              </a:ext>
            </a:extLst>
          </p:cNvPr>
          <p:cNvSpPr/>
          <p:nvPr/>
        </p:nvSpPr>
        <p:spPr>
          <a:xfrm>
            <a:off x="6356842" y="3429000"/>
            <a:ext cx="3000518" cy="5740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6623D3-C548-94D5-A330-02630E183858}"/>
              </a:ext>
            </a:extLst>
          </p:cNvPr>
          <p:cNvSpPr txBox="1"/>
          <p:nvPr/>
        </p:nvSpPr>
        <p:spPr>
          <a:xfrm>
            <a:off x="6356842" y="3002809"/>
            <a:ext cx="4046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32    16      8      4       2      1          0.5   0.25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CB4110-5C60-527A-8F40-B4FA9B0AC493}"/>
              </a:ext>
            </a:extLst>
          </p:cNvPr>
          <p:cNvSpPr txBox="1"/>
          <p:nvPr/>
        </p:nvSpPr>
        <p:spPr>
          <a:xfrm>
            <a:off x="9357360" y="3429000"/>
            <a:ext cx="863824" cy="5740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107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3ED6B-CF76-4B2A-C21F-5629D1F12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13279-EBEA-BEEE-9C5C-1825F7AB9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784" y="-95235"/>
            <a:ext cx="10058400" cy="145075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 Công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EBE59-7F37-62AF-523C-EB41EA9EE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30" y="2103455"/>
            <a:ext cx="2258869" cy="3708698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</a:rPr>
              <a:t> ADXL362, </a:t>
            </a:r>
            <a:r>
              <a:rPr lang="en-US" sz="2800" dirty="0" err="1">
                <a:latin typeface="Arial" panose="020B0604020202020204" pitchFamily="34" charset="0"/>
              </a:rPr>
              <a:t>đã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hiển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thị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giá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trị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góc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lên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trên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đèn</a:t>
            </a:r>
            <a:r>
              <a:rPr lang="en-US" sz="2800" dirty="0">
                <a:latin typeface="Arial" panose="020B0604020202020204" pitchFamily="34" charset="0"/>
              </a:rPr>
              <a:t> LED </a:t>
            </a:r>
            <a:r>
              <a:rPr lang="en-US" sz="2800" dirty="0" err="1">
                <a:latin typeface="Arial" panose="020B0604020202020204" pitchFamily="34" charset="0"/>
              </a:rPr>
              <a:t>đơn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thông</a:t>
            </a:r>
            <a:r>
              <a:rPr lang="en-US" sz="2800" dirty="0">
                <a:latin typeface="Arial" panose="020B0604020202020204" pitchFamily="34" charset="0"/>
              </a:rPr>
              <a:t> qua </a:t>
            </a:r>
            <a:r>
              <a:rPr lang="en-US" sz="2800" dirty="0" err="1">
                <a:latin typeface="Arial" panose="020B0604020202020204" pitchFamily="34" charset="0"/>
              </a:rPr>
              <a:t>giao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thức</a:t>
            </a:r>
            <a:r>
              <a:rPr lang="en-US" sz="2800" dirty="0">
                <a:latin typeface="Arial" panose="020B0604020202020204" pitchFamily="34" charset="0"/>
              </a:rPr>
              <a:t> SPI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8268DF-E7AC-8B7C-9AD5-95F3E239A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8946" y="2212310"/>
            <a:ext cx="5496692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805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3ED6B-CF76-4B2A-C21F-5629D1F12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13279-EBEA-BEEE-9C5C-1825F7AB9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784" y="-95235"/>
            <a:ext cx="10058400" cy="145075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 Công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EBE59-7F37-62AF-523C-EB41EA9EE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235" y="2099352"/>
            <a:ext cx="5022165" cy="3708698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Arial" panose="020B0604020202020204" pitchFamily="34" charset="0"/>
              </a:rPr>
              <a:t>Đọc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giá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trị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góc</a:t>
            </a:r>
            <a:r>
              <a:rPr lang="en-US" sz="2800" dirty="0">
                <a:latin typeface="Arial" panose="020B0604020202020204" pitchFamily="34" charset="0"/>
              </a:rPr>
              <a:t> X – 16 bit </a:t>
            </a:r>
            <a:r>
              <a:rPr lang="en-US" sz="2800" dirty="0" err="1">
                <a:latin typeface="Arial" panose="020B0604020202020204" pitchFamily="34" charset="0"/>
              </a:rPr>
              <a:t>ra</a:t>
            </a:r>
            <a:r>
              <a:rPr lang="en-US" sz="2800" dirty="0">
                <a:latin typeface="Arial" panose="020B0604020202020204" pitchFamily="34" charset="0"/>
              </a:rPr>
              <a:t> 8 LED</a:t>
            </a:r>
          </a:p>
          <a:p>
            <a:r>
              <a:rPr lang="en-US" sz="2800" dirty="0">
                <a:latin typeface="Arial" panose="020B0604020202020204" pitchFamily="34" charset="0"/>
              </a:rPr>
              <a:t>=&gt; chia </a:t>
            </a:r>
            <a:r>
              <a:rPr lang="en-US" sz="2800" dirty="0" err="1">
                <a:latin typeface="Arial" panose="020B0604020202020204" pitchFamily="34" charset="0"/>
              </a:rPr>
              <a:t>ra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làm</a:t>
            </a:r>
            <a:r>
              <a:rPr lang="en-US" sz="2800" dirty="0">
                <a:latin typeface="Arial" panose="020B0604020202020204" pitchFamily="34" charset="0"/>
              </a:rPr>
              <a:t> 2 </a:t>
            </a:r>
            <a:r>
              <a:rPr lang="en-US" sz="2800" dirty="0" err="1">
                <a:latin typeface="Arial" panose="020B0604020202020204" pitchFamily="34" charset="0"/>
              </a:rPr>
              <a:t>lần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lần</a:t>
            </a:r>
            <a:r>
              <a:rPr lang="en-US" sz="2800" dirty="0">
                <a:latin typeface="Arial" panose="020B0604020202020204" pitchFamily="34" charset="0"/>
              </a:rPr>
              <a:t> 1 </a:t>
            </a:r>
            <a:r>
              <a:rPr lang="en-US" sz="2800" dirty="0" err="1">
                <a:latin typeface="Arial" panose="020B0604020202020204" pitchFamily="34" charset="0"/>
              </a:rPr>
              <a:t>là</a:t>
            </a:r>
            <a:r>
              <a:rPr lang="en-US" sz="2800" dirty="0">
                <a:latin typeface="Arial" panose="020B0604020202020204" pitchFamily="34" charset="0"/>
              </a:rPr>
              <a:t> LED </a:t>
            </a:r>
            <a:r>
              <a:rPr lang="en-US" sz="2800" dirty="0" err="1">
                <a:latin typeface="Arial" panose="020B0604020202020204" pitchFamily="34" charset="0"/>
              </a:rPr>
              <a:t>của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bit </a:t>
            </a:r>
            <a:r>
              <a:rPr lang="en-US" sz="2800" dirty="0" err="1">
                <a:latin typeface="Arial" panose="020B0604020202020204" pitchFamily="34" charset="0"/>
              </a:rPr>
              <a:t>đầu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lần</a:t>
            </a:r>
            <a:r>
              <a:rPr lang="en-US" sz="2800" dirty="0">
                <a:latin typeface="Arial" panose="020B0604020202020204" pitchFamily="34" charset="0"/>
              </a:rPr>
              <a:t> 2 </a:t>
            </a:r>
            <a:r>
              <a:rPr lang="en-US" sz="2800" dirty="0" err="1">
                <a:latin typeface="Arial" panose="020B0604020202020204" pitchFamily="34" charset="0"/>
              </a:rPr>
              <a:t>là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của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bit </a:t>
            </a:r>
            <a:r>
              <a:rPr lang="en-US" sz="2800" dirty="0" err="1">
                <a:latin typeface="Arial" panose="020B0604020202020204" pitchFamily="34" charset="0"/>
              </a:rPr>
              <a:t>sau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điều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chỉnh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theo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switch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DC6CA4-6380-3134-3619-DDA9520D7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022" y="2114367"/>
            <a:ext cx="4067743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817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F159C-DED0-D49F-242B-D655F8C83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8F70C-2547-87F0-0CF0-7048FC826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370" y="255638"/>
            <a:ext cx="7407623" cy="96061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 Công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5DEAB-5D61-DE2B-2542-71E1D023A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251" y="2017252"/>
            <a:ext cx="11205497" cy="4016150"/>
          </a:xfrm>
        </p:spPr>
        <p:txBody>
          <a:bodyPr>
            <a:normAutofit/>
          </a:bodyPr>
          <a:lstStyle/>
          <a:p>
            <a:pPr lvl="1">
              <a:buFontTx/>
              <a:buChar char="-"/>
            </a:pPr>
            <a:r>
              <a:rPr lang="en-US" sz="3200" dirty="0">
                <a:latin typeface="Arial" panose="020B0604020202020204" pitchFamily="34" charset="0"/>
              </a:rPr>
              <a:t>=&gt; Các </a:t>
            </a:r>
            <a:r>
              <a:rPr lang="en-US" sz="3200" dirty="0" err="1">
                <a:latin typeface="Arial" panose="020B0604020202020204" pitchFamily="34" charset="0"/>
              </a:rPr>
              <a:t>công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việc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về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kết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quả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đã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thực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hiện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tương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đối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ổn</a:t>
            </a:r>
            <a:endParaRPr lang="en-US" sz="3200" dirty="0">
              <a:latin typeface="Arial" panose="020B0604020202020204" pitchFamily="34" charset="0"/>
            </a:endParaRPr>
          </a:p>
          <a:p>
            <a:pPr lvl="1">
              <a:buFontTx/>
              <a:buChar char="-"/>
            </a:pPr>
            <a:r>
              <a:rPr lang="en-US" sz="3200" b="1" dirty="0">
                <a:latin typeface="Arial" panose="020B0604020202020204" pitchFamily="34" charset="0"/>
              </a:rPr>
              <a:t>Tuy </a:t>
            </a:r>
            <a:r>
              <a:rPr lang="en-US" sz="3200" b="1" dirty="0" err="1">
                <a:latin typeface="Arial" panose="020B0604020202020204" pitchFamily="34" charset="0"/>
              </a:rPr>
              <a:t>nhiên</a:t>
            </a:r>
            <a:r>
              <a:rPr lang="en-US" sz="3200" b="1" dirty="0">
                <a:latin typeface="Arial" panose="020B0604020202020204" pitchFamily="34" charset="0"/>
              </a:rPr>
              <a:t>,</a:t>
            </a:r>
          </a:p>
          <a:p>
            <a:pPr lvl="1">
              <a:buFontTx/>
              <a:buChar char="-"/>
            </a:pPr>
            <a:r>
              <a:rPr lang="en-US" sz="2600" dirty="0">
                <a:latin typeface="Arial" panose="020B0604020202020204" pitchFamily="34" charset="0"/>
              </a:rPr>
              <a:t>So </a:t>
            </a:r>
            <a:r>
              <a:rPr lang="en-US" sz="2600" dirty="0" err="1">
                <a:latin typeface="Arial" panose="020B0604020202020204" pitchFamily="34" charset="0"/>
              </a:rPr>
              <a:t>với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tiến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độ</a:t>
            </a:r>
            <a:r>
              <a:rPr lang="en-US" sz="2600" dirty="0">
                <a:latin typeface="Arial" panose="020B0604020202020204" pitchFamily="34" charset="0"/>
              </a:rPr>
              <a:t> ban </a:t>
            </a:r>
            <a:r>
              <a:rPr lang="en-US" sz="2600" dirty="0" err="1">
                <a:latin typeface="Arial" panose="020B0604020202020204" pitchFamily="34" charset="0"/>
              </a:rPr>
              <a:t>đầu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thì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công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việc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hiện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tại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còn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bị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chậm</a:t>
            </a:r>
            <a:r>
              <a:rPr lang="en-US" sz="2600" dirty="0">
                <a:latin typeface="Arial" panose="020B0604020202020204" pitchFamily="34" charset="0"/>
              </a:rPr>
              <a:t> do </a:t>
            </a:r>
            <a:r>
              <a:rPr lang="en-US" sz="2600" dirty="0" err="1">
                <a:latin typeface="Arial" panose="020B0604020202020204" pitchFamily="34" charset="0"/>
              </a:rPr>
              <a:t>các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yếu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tố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ngoại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cảnh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cũng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như</a:t>
            </a:r>
            <a:r>
              <a:rPr lang="en-US" sz="2600" dirty="0">
                <a:latin typeface="Arial" panose="020B0604020202020204" pitchFamily="34" charset="0"/>
              </a:rPr>
              <a:t> do </a:t>
            </a:r>
            <a:r>
              <a:rPr lang="en-US" sz="2600" dirty="0" err="1">
                <a:latin typeface="Arial" panose="020B0604020202020204" pitchFamily="34" charset="0"/>
              </a:rPr>
              <a:t>chuyên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môn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trong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khoảng</a:t>
            </a:r>
            <a:r>
              <a:rPr lang="en-US" sz="2600" dirty="0">
                <a:latin typeface="Arial" panose="020B0604020202020204" pitchFamily="34" charset="0"/>
              </a:rPr>
              <a:t> debug</a:t>
            </a:r>
          </a:p>
          <a:p>
            <a:pPr lvl="1">
              <a:buFontTx/>
              <a:buChar char="-"/>
            </a:pPr>
            <a:r>
              <a:rPr lang="en-US" sz="2600" dirty="0">
                <a:latin typeface="Arial" panose="020B0604020202020204" pitchFamily="34" charset="0"/>
              </a:rPr>
              <a:t>So </a:t>
            </a:r>
            <a:r>
              <a:rPr lang="en-US" sz="2600" dirty="0" err="1">
                <a:latin typeface="Arial" panose="020B0604020202020204" pitchFamily="34" charset="0"/>
              </a:rPr>
              <a:t>với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kì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vọng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của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anh</a:t>
            </a:r>
            <a:r>
              <a:rPr lang="en-US" sz="2600" dirty="0">
                <a:latin typeface="Arial" panose="020B0604020202020204" pitchFamily="34" charset="0"/>
              </a:rPr>
              <a:t> Tuấn </a:t>
            </a:r>
            <a:r>
              <a:rPr lang="en-US" sz="2600" dirty="0" err="1">
                <a:latin typeface="Arial" panose="020B0604020202020204" pitchFamily="34" charset="0"/>
              </a:rPr>
              <a:t>cũng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như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bản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thân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thì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vẫn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thấy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còn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nhiều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điểm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thiếu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sót</a:t>
            </a:r>
            <a:r>
              <a:rPr lang="en-US" sz="2600" dirty="0">
                <a:latin typeface="Arial" panose="020B0604020202020204" pitchFamily="34" charset="0"/>
              </a:rPr>
              <a:t>, </a:t>
            </a:r>
            <a:r>
              <a:rPr lang="en-US" sz="2600" dirty="0" err="1">
                <a:latin typeface="Arial" panose="020B0604020202020204" pitchFamily="34" charset="0"/>
              </a:rPr>
              <a:t>cần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cải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thiện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vi-VN" sz="2600" dirty="0">
                <a:latin typeface="Arial" panose="020B0604020202020204" pitchFamily="34" charset="0"/>
              </a:rPr>
              <a:t>thêm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về</a:t>
            </a:r>
            <a:r>
              <a:rPr lang="en-US" sz="2600" dirty="0">
                <a:latin typeface="Arial" panose="020B0604020202020204" pitchFamily="34" charset="0"/>
              </a:rPr>
              <a:t> debug, </a:t>
            </a:r>
            <a:r>
              <a:rPr lang="en-US" sz="2600" dirty="0" err="1">
                <a:latin typeface="Arial" panose="020B0604020202020204" pitchFamily="34" charset="0"/>
              </a:rPr>
              <a:t>xử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lý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các</a:t>
            </a:r>
            <a:r>
              <a:rPr lang="en-US" sz="2600" dirty="0">
                <a:latin typeface="Arial" panose="020B0604020202020204" pitchFamily="34" charset="0"/>
              </a:rPr>
              <a:t> state</a:t>
            </a:r>
          </a:p>
          <a:p>
            <a:pPr marL="201168" lvl="1" indent="0">
              <a:buNone/>
            </a:pPr>
            <a:r>
              <a:rPr lang="en-US" sz="2600" dirty="0"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036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FFDFD-4ED7-B877-FC38-8C674E3A4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F8C57-AE09-A38C-8B0F-8770C955D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370" y="255638"/>
            <a:ext cx="7407623" cy="96061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 Công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DC2C1-2630-F2E4-5B12-82991E9BE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11" y="1856330"/>
            <a:ext cx="11173378" cy="527304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</a:rPr>
              <a:t>So </a:t>
            </a:r>
            <a:r>
              <a:rPr lang="en-US" sz="2800" b="1" dirty="0" err="1">
                <a:latin typeface="Arial" panose="020B0604020202020204" pitchFamily="34" charset="0"/>
              </a:rPr>
              <a:t>với</a:t>
            </a:r>
            <a:r>
              <a:rPr lang="en-US" sz="2800" b="1" dirty="0">
                <a:latin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</a:rPr>
              <a:t>thời</a:t>
            </a:r>
            <a:r>
              <a:rPr lang="en-US" sz="2800" b="1" dirty="0">
                <a:latin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</a:rPr>
              <a:t>gian</a:t>
            </a:r>
            <a:r>
              <a:rPr lang="en-US" sz="2800" b="1" dirty="0">
                <a:latin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</a:rPr>
              <a:t>trước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đã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học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thêm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những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kĩ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về</a:t>
            </a:r>
            <a:r>
              <a:rPr lang="en-US" sz="2800" dirty="0">
                <a:latin typeface="Arial" panose="020B0604020202020204" pitchFamily="34" charset="0"/>
              </a:rPr>
              <a:t>:</a:t>
            </a:r>
          </a:p>
          <a:p>
            <a:pPr lvl="1"/>
            <a:r>
              <a:rPr lang="en-US" sz="2600" dirty="0">
                <a:latin typeface="Arial" panose="020B0604020202020204" pitchFamily="34" charset="0"/>
              </a:rPr>
              <a:t>- </a:t>
            </a:r>
            <a:r>
              <a:rPr lang="en-US" sz="2600" dirty="0" err="1">
                <a:latin typeface="Arial" panose="020B0604020202020204" pitchFamily="34" charset="0"/>
              </a:rPr>
              <a:t>Thiết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kế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với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các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cảm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biến</a:t>
            </a:r>
            <a:endParaRPr lang="en-US" sz="2600" dirty="0">
              <a:latin typeface="Arial" panose="020B0604020202020204" pitchFamily="34" charset="0"/>
            </a:endParaRPr>
          </a:p>
          <a:p>
            <a:pPr lvl="1"/>
            <a:r>
              <a:rPr lang="en-US" sz="2600" dirty="0">
                <a:latin typeface="Arial" panose="020B0604020202020204" pitchFamily="34" charset="0"/>
              </a:rPr>
              <a:t>- </a:t>
            </a:r>
            <a:r>
              <a:rPr lang="en-US" sz="2600" dirty="0" err="1">
                <a:latin typeface="Arial" panose="020B0604020202020204" pitchFamily="34" charset="0"/>
              </a:rPr>
              <a:t>Kĩ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năng</a:t>
            </a:r>
            <a:r>
              <a:rPr lang="en-US" sz="2600" dirty="0">
                <a:latin typeface="Arial" panose="020B0604020202020204" pitchFamily="34" charset="0"/>
              </a:rPr>
              <a:t> debug </a:t>
            </a:r>
            <a:r>
              <a:rPr lang="en-US" sz="2600" dirty="0" err="1">
                <a:latin typeface="Arial" panose="020B0604020202020204" pitchFamily="34" charset="0"/>
              </a:rPr>
              <a:t>trực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tiếp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trên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mạch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với</a:t>
            </a:r>
            <a:r>
              <a:rPr lang="en-US" sz="2600" dirty="0">
                <a:latin typeface="Arial" panose="020B0604020202020204" pitchFamily="34" charset="0"/>
              </a:rPr>
              <a:t> ILA</a:t>
            </a:r>
          </a:p>
          <a:p>
            <a:pPr lvl="1"/>
            <a:r>
              <a:rPr lang="en-US" sz="2600" dirty="0">
                <a:latin typeface="Arial" panose="020B0604020202020204" pitchFamily="34" charset="0"/>
              </a:rPr>
              <a:t>- </a:t>
            </a:r>
            <a:r>
              <a:rPr lang="en-US" sz="2600" dirty="0" err="1">
                <a:latin typeface="Arial" panose="020B0604020202020204" pitchFamily="34" charset="0"/>
              </a:rPr>
              <a:t>Khả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năng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đọc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hiểu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tài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liệu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kỹ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thuật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của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các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cảm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biến</a:t>
            </a:r>
            <a:r>
              <a:rPr lang="en-US" sz="2600" dirty="0">
                <a:latin typeface="Arial" panose="020B0604020202020204" pitchFamily="34" charset="0"/>
              </a:rPr>
              <a:t>, </a:t>
            </a:r>
            <a:r>
              <a:rPr lang="en-US" sz="2600" dirty="0" err="1">
                <a:latin typeface="Arial" panose="020B0604020202020204" pitchFamily="34" charset="0"/>
              </a:rPr>
              <a:t>cũng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như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cách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hoạt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động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của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các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giao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thức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truyền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thông</a:t>
            </a:r>
            <a:endParaRPr lang="en-US" sz="2600" dirty="0">
              <a:latin typeface="Arial" panose="020B0604020202020204" pitchFamily="34" charset="0"/>
            </a:endParaRPr>
          </a:p>
          <a:p>
            <a:pPr marL="201168" lvl="1" indent="0">
              <a:buNone/>
            </a:pPr>
            <a:r>
              <a:rPr lang="en-US" sz="2600" b="1" dirty="0" err="1">
                <a:latin typeface="Arial" panose="020B0604020202020204" pitchFamily="34" charset="0"/>
              </a:rPr>
              <a:t>Từ</a:t>
            </a:r>
            <a:r>
              <a:rPr lang="en-US" sz="2600" b="1" dirty="0">
                <a:latin typeface="Arial" panose="020B0604020202020204" pitchFamily="34" charset="0"/>
              </a:rPr>
              <a:t> </a:t>
            </a:r>
            <a:r>
              <a:rPr lang="en-US" sz="2600" b="1" dirty="0" err="1">
                <a:latin typeface="Arial" panose="020B0604020202020204" pitchFamily="34" charset="0"/>
              </a:rPr>
              <a:t>đó</a:t>
            </a:r>
            <a:r>
              <a:rPr lang="en-US" sz="2600" dirty="0">
                <a:latin typeface="Arial" panose="020B0604020202020204" pitchFamily="34" charset="0"/>
              </a:rPr>
              <a:t>, </a:t>
            </a:r>
            <a:r>
              <a:rPr lang="en-US" sz="2600" dirty="0" err="1">
                <a:latin typeface="Arial" panose="020B0604020202020204" pitchFamily="34" charset="0"/>
              </a:rPr>
              <a:t>những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mong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muốn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về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kĩ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năng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sẽ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học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được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trong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thời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gian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tới</a:t>
            </a:r>
            <a:r>
              <a:rPr lang="en-US" sz="2600" dirty="0">
                <a:latin typeface="Arial" panose="020B0604020202020204" pitchFamily="34" charset="0"/>
              </a:rPr>
              <a:t>:</a:t>
            </a:r>
          </a:p>
          <a:p>
            <a:pPr marL="201168" lvl="1" indent="0">
              <a:buNone/>
            </a:pPr>
            <a:r>
              <a:rPr lang="en-US" sz="2600" dirty="0">
                <a:latin typeface="Arial" panose="020B0604020202020204" pitchFamily="34" charset="0"/>
              </a:rPr>
              <a:t>  - </a:t>
            </a:r>
            <a:r>
              <a:rPr lang="en-US" sz="2600" dirty="0" err="1">
                <a:latin typeface="Arial" panose="020B0604020202020204" pitchFamily="34" charset="0"/>
              </a:rPr>
              <a:t>Kĩ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năng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lập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trình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nhúng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với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sự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kết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hợp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của</a:t>
            </a:r>
            <a:r>
              <a:rPr lang="en-US" sz="2600" dirty="0">
                <a:latin typeface="Arial" panose="020B0604020202020204" pitchFamily="34" charset="0"/>
              </a:rPr>
              <a:t> Linux </a:t>
            </a:r>
            <a:r>
              <a:rPr lang="en-US" sz="2600" dirty="0" err="1">
                <a:latin typeface="Arial" panose="020B0604020202020204" pitchFamily="34" charset="0"/>
              </a:rPr>
              <a:t>với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PetaLinux</a:t>
            </a:r>
            <a:endParaRPr lang="en-US" sz="2600" dirty="0">
              <a:latin typeface="Arial" panose="020B0604020202020204" pitchFamily="34" charset="0"/>
            </a:endParaRPr>
          </a:p>
          <a:p>
            <a:pPr marL="201168" lvl="1" indent="0">
              <a:buNone/>
            </a:pPr>
            <a:r>
              <a:rPr lang="en-US" sz="2600" dirty="0">
                <a:latin typeface="Arial" panose="020B0604020202020204" pitchFamily="34" charset="0"/>
              </a:rPr>
              <a:t>  - </a:t>
            </a:r>
            <a:r>
              <a:rPr lang="en-US" sz="2600" dirty="0" err="1">
                <a:latin typeface="Arial" panose="020B0604020202020204" pitchFamily="34" charset="0"/>
              </a:rPr>
              <a:t>Kĩ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năng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thiết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kế</a:t>
            </a:r>
            <a:r>
              <a:rPr lang="en-US" sz="2600" dirty="0">
                <a:latin typeface="Arial" panose="020B0604020202020204" pitchFamily="34" charset="0"/>
              </a:rPr>
              <a:t> UART</a:t>
            </a:r>
          </a:p>
          <a:p>
            <a:pPr marL="201168" lvl="1" indent="0">
              <a:buNone/>
            </a:pPr>
            <a:r>
              <a:rPr lang="en-US" sz="2600" dirty="0">
                <a:latin typeface="Arial" panose="020B0604020202020204" pitchFamily="34" charset="0"/>
              </a:rPr>
              <a:t>  - </a:t>
            </a:r>
            <a:r>
              <a:rPr lang="en-US" sz="2600" dirty="0" err="1">
                <a:latin typeface="Arial" panose="020B0604020202020204" pitchFamily="34" charset="0"/>
              </a:rPr>
              <a:t>Nâng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cao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khả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năng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kiểm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thử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thiết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kế</a:t>
            </a:r>
            <a:endParaRPr lang="en-US" sz="2600" dirty="0">
              <a:latin typeface="Arial" panose="020B0604020202020204" pitchFamily="34" charset="0"/>
            </a:endParaRPr>
          </a:p>
          <a:p>
            <a:pPr marL="201168" lvl="1" indent="0">
              <a:buNone/>
            </a:pPr>
            <a:r>
              <a:rPr lang="en-US" sz="2600" dirty="0">
                <a:latin typeface="Arial" panose="020B0604020202020204" pitchFamily="34" charset="0"/>
              </a:rPr>
              <a:t>  - </a:t>
            </a:r>
            <a:r>
              <a:rPr lang="en-US" sz="2600" dirty="0" err="1">
                <a:latin typeface="Arial" panose="020B0604020202020204" pitchFamily="34" charset="0"/>
              </a:rPr>
              <a:t>Phát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triển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các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hệ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thống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kết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hợp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các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giao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thức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trên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nền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tảng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nhúng</a:t>
            </a:r>
            <a:endParaRPr lang="en-US" sz="2600" dirty="0">
              <a:latin typeface="Arial" panose="020B0604020202020204" pitchFamily="34" charset="0"/>
            </a:endParaRPr>
          </a:p>
          <a:p>
            <a:pPr marL="201168" lvl="1" indent="0">
              <a:buNone/>
            </a:pPr>
            <a:endParaRPr lang="en-US" sz="2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663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296C4-887D-4E60-5561-0EBCE1585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293DA-A37B-733D-66B8-70A8636EC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150" y="2622482"/>
            <a:ext cx="6025700" cy="145075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Vấn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gặp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khắc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phục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336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0DD66-95FB-EB36-DC55-765824E5E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4831F-885F-89A7-CA02-24320768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966901" cy="145075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Vấn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gặp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khắc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phục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A7943-E15C-4F65-7A73-1877DF969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</a:rPr>
              <a:t>- </a:t>
            </a:r>
            <a:r>
              <a:rPr lang="en-US" sz="2800" dirty="0" err="1">
                <a:latin typeface="Arial" panose="020B0604020202020204" pitchFamily="34" charset="0"/>
              </a:rPr>
              <a:t>Vấn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đề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ngoại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cảnh</a:t>
            </a:r>
            <a:r>
              <a:rPr lang="en-US" sz="2800" dirty="0">
                <a:latin typeface="Arial" panose="020B0604020202020204" pitchFamily="34" charset="0"/>
              </a:rPr>
              <a:t>: </a:t>
            </a:r>
            <a:r>
              <a:rPr lang="en-US" sz="2800" dirty="0" err="1">
                <a:latin typeface="Arial" panose="020B0604020202020204" pitchFamily="34" charset="0"/>
              </a:rPr>
              <a:t>Trời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mưa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bão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học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bù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vướng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lịch</a:t>
            </a:r>
            <a:r>
              <a:rPr lang="en-US" sz="2800" dirty="0">
                <a:latin typeface="Arial" panose="020B0604020202020204" pitchFamily="34" charset="0"/>
              </a:rPr>
              <a:t>, … </a:t>
            </a:r>
            <a:r>
              <a:rPr lang="en-US" sz="2800" dirty="0" err="1">
                <a:latin typeface="Arial" panose="020B0604020202020204" pitchFamily="34" charset="0"/>
              </a:rPr>
              <a:t>làm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giảm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thời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gian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thực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hành</a:t>
            </a:r>
            <a:r>
              <a:rPr lang="en-US" sz="2800" dirty="0">
                <a:latin typeface="Arial" panose="020B0604020202020204" pitchFamily="34" charset="0"/>
              </a:rPr>
              <a:t> =&gt; </a:t>
            </a:r>
            <a:r>
              <a:rPr lang="en-US" sz="2800" dirty="0" err="1">
                <a:latin typeface="Arial" panose="020B0604020202020204" pitchFamily="34" charset="0"/>
              </a:rPr>
              <a:t>Làm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chậm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tiến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độ</a:t>
            </a:r>
            <a:endParaRPr lang="en-US" sz="2800" dirty="0">
              <a:latin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</a:rPr>
              <a:t>- </a:t>
            </a:r>
            <a:r>
              <a:rPr lang="en-US" sz="2800" dirty="0" err="1">
                <a:latin typeface="Arial" panose="020B0604020202020204" pitchFamily="34" charset="0"/>
              </a:rPr>
              <a:t>Vấn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đề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chuyên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môn</a:t>
            </a:r>
            <a:r>
              <a:rPr lang="en-US" sz="2800" dirty="0">
                <a:latin typeface="Arial" panose="020B0604020202020204" pitchFamily="34" charset="0"/>
              </a:rPr>
              <a:t>: </a:t>
            </a:r>
          </a:p>
          <a:p>
            <a:r>
              <a:rPr lang="en-US" sz="2800" dirty="0">
                <a:latin typeface="Arial" panose="020B0604020202020204" pitchFamily="34" charset="0"/>
              </a:rPr>
              <a:t>+ Các </a:t>
            </a:r>
            <a:r>
              <a:rPr lang="en-US" sz="2800" dirty="0" err="1">
                <a:latin typeface="Arial" panose="020B0604020202020204" pitchFamily="34" charset="0"/>
              </a:rPr>
              <a:t>vấn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đề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về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thiết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kế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module </a:t>
            </a:r>
            <a:r>
              <a:rPr lang="en-US" sz="2800" dirty="0" err="1">
                <a:latin typeface="Arial" panose="020B0604020202020204" pitchFamily="34" charset="0"/>
              </a:rPr>
              <a:t>như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về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máy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trạng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thái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logic </a:t>
            </a:r>
            <a:r>
              <a:rPr lang="en-US" sz="2800" dirty="0" err="1">
                <a:latin typeface="Arial" panose="020B0604020202020204" pitchFamily="34" charset="0"/>
              </a:rPr>
              <a:t>bị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sai</a:t>
            </a:r>
            <a:r>
              <a:rPr lang="en-US" sz="2800" dirty="0">
                <a:latin typeface="Arial" panose="020B0604020202020204" pitchFamily="34" charset="0"/>
              </a:rPr>
              <a:t>: =&gt; Trao </a:t>
            </a:r>
            <a:r>
              <a:rPr lang="en-US" sz="2800" dirty="0" err="1">
                <a:latin typeface="Arial" panose="020B0604020202020204" pitchFamily="34" charset="0"/>
              </a:rPr>
              <a:t>đổi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thêm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anh</a:t>
            </a:r>
            <a:r>
              <a:rPr lang="en-US" sz="2800" dirty="0">
                <a:latin typeface="Arial" panose="020B0604020202020204" pitchFamily="34" charset="0"/>
              </a:rPr>
              <a:t> Tuấn </a:t>
            </a:r>
            <a:r>
              <a:rPr lang="en-US" sz="2800" dirty="0" err="1">
                <a:latin typeface="Arial" panose="020B0604020202020204" pitchFamily="34" charset="0"/>
              </a:rPr>
              <a:t>cũng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như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bạn</a:t>
            </a:r>
            <a:r>
              <a:rPr lang="en-US" sz="2800" dirty="0">
                <a:latin typeface="Arial" panose="020B0604020202020204" pitchFamily="34" charset="0"/>
              </a:rPr>
              <a:t> Tú </a:t>
            </a:r>
            <a:r>
              <a:rPr lang="en-US" sz="2800" dirty="0" err="1">
                <a:latin typeface="Arial" panose="020B0604020202020204" pitchFamily="34" charset="0"/>
              </a:rPr>
              <a:t>để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tìm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cách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khắc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phục</a:t>
            </a:r>
            <a:endParaRPr lang="en-US" sz="2800" dirty="0">
              <a:latin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</a:rPr>
              <a:t>+ </a:t>
            </a:r>
            <a:r>
              <a:rPr lang="en-US" sz="2800" dirty="0" err="1">
                <a:latin typeface="Arial" panose="020B0604020202020204" pitchFamily="34" charset="0"/>
              </a:rPr>
              <a:t>Vấn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đề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về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triển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khai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trên</a:t>
            </a:r>
            <a:r>
              <a:rPr lang="en-US" sz="2800" dirty="0">
                <a:latin typeface="Arial" panose="020B0604020202020204" pitchFamily="34" charset="0"/>
              </a:rPr>
              <a:t> FPGA: </a:t>
            </a:r>
            <a:r>
              <a:rPr lang="en-US" sz="2800" dirty="0" err="1">
                <a:latin typeface="Arial" panose="020B0604020202020204" pitchFamily="34" charset="0"/>
              </a:rPr>
              <a:t>như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gán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chân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trên</a:t>
            </a:r>
            <a:r>
              <a:rPr lang="en-US" sz="2800" dirty="0">
                <a:latin typeface="Arial" panose="020B0604020202020204" pitchFamily="34" charset="0"/>
              </a:rPr>
              <a:t> FPGA, </a:t>
            </a:r>
            <a:r>
              <a:rPr lang="en-US" sz="2800" dirty="0" err="1">
                <a:latin typeface="Arial" panose="020B0604020202020204" pitchFamily="34" charset="0"/>
              </a:rPr>
              <a:t>xuất</a:t>
            </a:r>
            <a:r>
              <a:rPr lang="en-US" sz="2800" dirty="0">
                <a:latin typeface="Arial" panose="020B0604020202020204" pitchFamily="34" charset="0"/>
              </a:rPr>
              <a:t> file bitstream,… =&gt; </a:t>
            </a:r>
            <a:r>
              <a:rPr lang="en-US" sz="2800" dirty="0" err="1">
                <a:latin typeface="Arial" panose="020B0604020202020204" pitchFamily="34" charset="0"/>
              </a:rPr>
              <a:t>Tạo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lại</a:t>
            </a:r>
            <a:r>
              <a:rPr lang="en-US" sz="2800" dirty="0">
                <a:latin typeface="Arial" panose="020B0604020202020204" pitchFamily="34" charset="0"/>
              </a:rPr>
              <a:t> project </a:t>
            </a:r>
            <a:r>
              <a:rPr lang="en-US" sz="2800" dirty="0" err="1">
                <a:latin typeface="Arial" panose="020B0604020202020204" pitchFamily="34" charset="0"/>
              </a:rPr>
              <a:t>mới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để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sửa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lại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lỗi</a:t>
            </a:r>
            <a:endParaRPr lang="en-US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353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9BE25-5773-86C7-586F-811776DBF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2B56B-ABDA-075D-F9F3-70AAE11BC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927572" cy="145075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Vấn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gặp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khắc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phục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B7B58-89B7-A5F5-0C8F-78439A499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604227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</a:rPr>
              <a:t>- So </a:t>
            </a:r>
            <a:r>
              <a:rPr lang="en-US" sz="2800" dirty="0" err="1">
                <a:latin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khoảng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thời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gian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trước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đã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cải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thiện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thêm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về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những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vấn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đề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như</a:t>
            </a:r>
            <a:r>
              <a:rPr lang="en-US" sz="2800" dirty="0">
                <a:latin typeface="Arial" panose="020B0604020202020204" pitchFamily="34" charset="0"/>
              </a:rPr>
              <a:t>:</a:t>
            </a:r>
          </a:p>
          <a:p>
            <a:pPr lvl="1"/>
            <a:r>
              <a:rPr lang="en-US" sz="2600" dirty="0">
                <a:latin typeface="Arial" panose="020B0604020202020204" pitchFamily="34" charset="0"/>
              </a:rPr>
              <a:t>+ </a:t>
            </a:r>
            <a:r>
              <a:rPr lang="en-US" sz="2600" dirty="0" err="1">
                <a:latin typeface="Arial" panose="020B0604020202020204" pitchFamily="34" charset="0"/>
              </a:rPr>
              <a:t>Viết</a:t>
            </a:r>
            <a:r>
              <a:rPr lang="en-US" sz="2600" dirty="0">
                <a:latin typeface="Arial" panose="020B0604020202020204" pitchFamily="34" charset="0"/>
              </a:rPr>
              <a:t> module </a:t>
            </a:r>
            <a:r>
              <a:rPr lang="en-US" sz="2600" dirty="0" err="1">
                <a:latin typeface="Arial" panose="020B0604020202020204" pitchFamily="34" charset="0"/>
              </a:rPr>
              <a:t>để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kiểm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thử</a:t>
            </a:r>
            <a:endParaRPr lang="en-US" sz="2600" dirty="0">
              <a:latin typeface="Arial" panose="020B0604020202020204" pitchFamily="34" charset="0"/>
            </a:endParaRPr>
          </a:p>
          <a:p>
            <a:pPr lvl="1"/>
            <a:r>
              <a:rPr lang="en-US" sz="2600" dirty="0">
                <a:latin typeface="Arial" panose="020B0604020202020204" pitchFamily="34" charset="0"/>
              </a:rPr>
              <a:t>+ </a:t>
            </a:r>
            <a:r>
              <a:rPr lang="en-US" sz="2600" dirty="0" err="1">
                <a:latin typeface="Arial" panose="020B0604020202020204" pitchFamily="34" charset="0"/>
              </a:rPr>
              <a:t>Đặt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các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tên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biến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quá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trùng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nhau</a:t>
            </a:r>
            <a:endParaRPr lang="en-US" sz="2600" dirty="0">
              <a:latin typeface="Arial" panose="020B0604020202020204" pitchFamily="34" charset="0"/>
            </a:endParaRPr>
          </a:p>
          <a:p>
            <a:pPr lvl="1"/>
            <a:r>
              <a:rPr lang="en-US" sz="2600" dirty="0">
                <a:latin typeface="Arial" panose="020B0604020202020204" pitchFamily="34" charset="0"/>
              </a:rPr>
              <a:t>+ </a:t>
            </a:r>
            <a:r>
              <a:rPr lang="en-US" sz="2600" dirty="0" err="1">
                <a:latin typeface="Arial" panose="020B0604020202020204" pitchFamily="34" charset="0"/>
              </a:rPr>
              <a:t>Cải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thiện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những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yếu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tố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về</a:t>
            </a:r>
            <a:r>
              <a:rPr lang="en-US" sz="2600" dirty="0">
                <a:latin typeface="Arial" panose="020B0604020202020204" pitchFamily="34" charset="0"/>
              </a:rPr>
              <a:t> comment </a:t>
            </a:r>
            <a:r>
              <a:rPr lang="en-US" sz="2600" dirty="0" err="1">
                <a:latin typeface="Arial" panose="020B0604020202020204" pitchFamily="34" charset="0"/>
              </a:rPr>
              <a:t>trong</a:t>
            </a:r>
            <a:r>
              <a:rPr lang="en-US" sz="2600" dirty="0">
                <a:latin typeface="Arial" panose="020B0604020202020204" pitchFamily="34" charset="0"/>
              </a:rPr>
              <a:t> code </a:t>
            </a:r>
            <a:r>
              <a:rPr lang="en-US" sz="2600" dirty="0" err="1">
                <a:latin typeface="Arial" panose="020B0604020202020204" pitchFamily="34" charset="0"/>
              </a:rPr>
              <a:t>để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dễ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dàng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đọc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hiểu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hơn</a:t>
            </a:r>
            <a:endParaRPr lang="en-US" sz="2600" dirty="0">
              <a:latin typeface="Arial" panose="020B0604020202020204" pitchFamily="34" charset="0"/>
            </a:endParaRPr>
          </a:p>
          <a:p>
            <a:pPr marL="201168" lvl="1" indent="0">
              <a:buNone/>
            </a:pPr>
            <a:r>
              <a:rPr lang="en-US" sz="2800" dirty="0">
                <a:latin typeface="Arial" panose="020B0604020202020204" pitchFamily="34" charset="0"/>
              </a:rPr>
              <a:t>- </a:t>
            </a:r>
            <a:r>
              <a:rPr lang="en-US" sz="2800" dirty="0" err="1">
                <a:latin typeface="Arial" panose="020B0604020202020204" pitchFamily="34" charset="0"/>
              </a:rPr>
              <a:t>Những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vấn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đề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thể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sẽ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gặp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phải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trong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tương</a:t>
            </a:r>
            <a:r>
              <a:rPr lang="en-US" sz="2800" dirty="0">
                <a:latin typeface="Arial" panose="020B0604020202020204" pitchFamily="34" charset="0"/>
              </a:rPr>
              <a:t> lai:</a:t>
            </a:r>
          </a:p>
          <a:p>
            <a:pPr marL="384048" lvl="2" indent="0">
              <a:buNone/>
            </a:pPr>
            <a:r>
              <a:rPr lang="en-US" sz="2600" dirty="0">
                <a:latin typeface="Arial" panose="020B0604020202020204" pitchFamily="34" charset="0"/>
              </a:rPr>
              <a:t>+ </a:t>
            </a:r>
            <a:r>
              <a:rPr lang="en-US" sz="2600" dirty="0" err="1">
                <a:latin typeface="Arial" panose="020B0604020202020204" pitchFamily="34" charset="0"/>
              </a:rPr>
              <a:t>Triển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khai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các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giao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thức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ngang</a:t>
            </a:r>
            <a:r>
              <a:rPr lang="en-US" sz="2600" dirty="0">
                <a:latin typeface="Arial" panose="020B0604020202020204" pitchFamily="34" charset="0"/>
              </a:rPr>
              <a:t> hang</a:t>
            </a:r>
          </a:p>
          <a:p>
            <a:pPr marL="384048" lvl="2" indent="0">
              <a:buNone/>
            </a:pPr>
            <a:r>
              <a:rPr lang="en-US" sz="2600" dirty="0">
                <a:latin typeface="Arial" panose="020B0604020202020204" pitchFamily="34" charset="0"/>
              </a:rPr>
              <a:t>+ </a:t>
            </a:r>
            <a:r>
              <a:rPr lang="en-US" sz="2600" dirty="0" err="1">
                <a:latin typeface="Arial" panose="020B0604020202020204" pitchFamily="34" charset="0"/>
              </a:rPr>
              <a:t>Cấu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hình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các</a:t>
            </a:r>
            <a:r>
              <a:rPr lang="en-US" sz="2600" dirty="0">
                <a:latin typeface="Arial" panose="020B0604020202020204" pitchFamily="34" charset="0"/>
              </a:rPr>
              <a:t> IP </a:t>
            </a:r>
            <a:r>
              <a:rPr lang="en-US" sz="2600" dirty="0" err="1">
                <a:latin typeface="Arial" panose="020B0604020202020204" pitchFamily="34" charset="0"/>
              </a:rPr>
              <a:t>có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sẵn</a:t>
            </a:r>
            <a:endParaRPr lang="en-US" sz="2600" dirty="0">
              <a:latin typeface="Arial" panose="020B0604020202020204" pitchFamily="34" charset="0"/>
            </a:endParaRPr>
          </a:p>
          <a:p>
            <a:pPr marL="384048" lvl="2" indent="0">
              <a:buNone/>
            </a:pPr>
            <a:r>
              <a:rPr lang="en-US" sz="2600" dirty="0">
                <a:latin typeface="Arial" panose="020B0604020202020204" pitchFamily="34" charset="0"/>
              </a:rPr>
              <a:t>+…</a:t>
            </a:r>
          </a:p>
        </p:txBody>
      </p:sp>
    </p:spTree>
    <p:extLst>
      <p:ext uri="{BB962C8B-B14F-4D97-AF65-F5344CB8AC3E}">
        <p14:creationId xmlns:p14="http://schemas.microsoft.com/office/powerpoint/2010/main" val="4087549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67FB1-A08A-3B95-F80B-7DB70B29A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4E53-637C-0983-AF7E-36EDF74E2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150" y="2622482"/>
            <a:ext cx="6025700" cy="145075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khai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34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C6340-73EA-F3FD-2962-B7472FE91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BC230-52DF-5685-1E44-6605132F5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966901" cy="1450757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khai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endParaRPr 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A855E-D502-42CA-AF19-8DD03324B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</a:rPr>
              <a:t>- Hoàn </a:t>
            </a:r>
            <a:r>
              <a:rPr lang="en-US" sz="2800" dirty="0" err="1">
                <a:latin typeface="Arial" panose="020B0604020202020204" pitchFamily="34" charset="0"/>
              </a:rPr>
              <a:t>thiện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nốt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vấn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đề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từ</a:t>
            </a:r>
            <a:r>
              <a:rPr lang="en-US" sz="2800" dirty="0">
                <a:latin typeface="Arial" panose="020B0604020202020204" pitchFamily="34" charset="0"/>
              </a:rPr>
              <a:t> 2 project </a:t>
            </a:r>
            <a:r>
              <a:rPr lang="en-US" sz="2800" dirty="0" err="1">
                <a:latin typeface="Arial" panose="020B0604020202020204" pitchFamily="34" charset="0"/>
              </a:rPr>
              <a:t>hiển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thị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nhiệt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độ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hiển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thị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góc</a:t>
            </a:r>
            <a:endParaRPr lang="en-US" sz="2800" dirty="0">
              <a:latin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</a:rPr>
              <a:t>- </a:t>
            </a:r>
            <a:r>
              <a:rPr lang="en-US" sz="2800" dirty="0" err="1">
                <a:latin typeface="Arial" panose="020B0604020202020204" pitchFamily="34" charset="0"/>
              </a:rPr>
              <a:t>Triển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khai</a:t>
            </a:r>
            <a:r>
              <a:rPr lang="en-US" sz="2800" dirty="0">
                <a:latin typeface="Arial" panose="020B0604020202020204" pitchFamily="34" charset="0"/>
              </a:rPr>
              <a:t> project LED RGB </a:t>
            </a:r>
            <a:r>
              <a:rPr lang="en-US" sz="2800" dirty="0" err="1">
                <a:latin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cảm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biến</a:t>
            </a:r>
            <a:r>
              <a:rPr lang="en-US" sz="2800" dirty="0">
                <a:latin typeface="Arial" panose="020B0604020202020204" pitchFamily="34" charset="0"/>
              </a:rPr>
              <a:t> UART</a:t>
            </a:r>
          </a:p>
          <a:p>
            <a:r>
              <a:rPr lang="en-US" sz="2800" dirty="0">
                <a:latin typeface="Arial" panose="020B0604020202020204" pitchFamily="34" charset="0"/>
              </a:rPr>
              <a:t>- </a:t>
            </a:r>
            <a:r>
              <a:rPr lang="en-US" sz="2800" dirty="0" err="1">
                <a:latin typeface="Arial" panose="020B0604020202020204" pitchFamily="34" charset="0"/>
              </a:rPr>
              <a:t>Ôn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tập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lại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những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kỹ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về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thiết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kế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phần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cứng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như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thiết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kế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máy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trạng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thái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quản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lý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state, </a:t>
            </a:r>
            <a:r>
              <a:rPr lang="en-US" sz="2800" dirty="0" err="1">
                <a:latin typeface="Arial" panose="020B0604020202020204" pitchFamily="34" charset="0"/>
              </a:rPr>
              <a:t>phân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tích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yêu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cầu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của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đề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bài</a:t>
            </a:r>
            <a:r>
              <a:rPr lang="en-US" sz="2800" dirty="0">
                <a:latin typeface="Arial" panose="020B0604020202020204" pitchFamily="34" charset="0"/>
              </a:rPr>
              <a:t>,…</a:t>
            </a:r>
          </a:p>
        </p:txBody>
      </p:sp>
    </p:spTree>
    <p:extLst>
      <p:ext uri="{BB962C8B-B14F-4D97-AF65-F5344CB8AC3E}">
        <p14:creationId xmlns:p14="http://schemas.microsoft.com/office/powerpoint/2010/main" val="2591220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F2EF4-C483-FC78-6ACB-C692C54A3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9FA28-3BAA-AD07-694D-5C5D8DC3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966901" cy="1450757"/>
          </a:xfrm>
        </p:spPr>
        <p:txBody>
          <a:bodyPr>
            <a:normAutofit/>
          </a:bodyPr>
          <a:lstStyle/>
          <a:p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luận</a:t>
            </a:r>
            <a:endParaRPr 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2442C-F12E-7B81-4F01-A6CFCE83B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</a:rPr>
              <a:t>- Trong </a:t>
            </a:r>
            <a:r>
              <a:rPr lang="en-US" sz="2800" dirty="0" err="1">
                <a:latin typeface="Arial" panose="020B0604020202020204" pitchFamily="34" charset="0"/>
              </a:rPr>
              <a:t>khoảng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thời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gian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từ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tháng</a:t>
            </a:r>
            <a:r>
              <a:rPr lang="en-US" sz="2800" dirty="0">
                <a:latin typeface="Arial" panose="020B0604020202020204" pitchFamily="34" charset="0"/>
              </a:rPr>
              <a:t> 9 + </a:t>
            </a:r>
            <a:r>
              <a:rPr lang="en-US" sz="2800" dirty="0" err="1">
                <a:latin typeface="Arial" panose="020B0604020202020204" pitchFamily="34" charset="0"/>
              </a:rPr>
              <a:t>tháng</a:t>
            </a:r>
            <a:r>
              <a:rPr lang="en-US" sz="2800" dirty="0">
                <a:latin typeface="Arial" panose="020B0604020202020204" pitchFamily="34" charset="0"/>
              </a:rPr>
              <a:t> 10 </a:t>
            </a:r>
          </a:p>
          <a:p>
            <a:r>
              <a:rPr lang="en-US" sz="2800" dirty="0">
                <a:latin typeface="Arial" panose="020B0604020202020204" pitchFamily="34" charset="0"/>
              </a:rPr>
              <a:t>=&gt; </a:t>
            </a:r>
            <a:r>
              <a:rPr lang="en-US" sz="2800" dirty="0" err="1">
                <a:latin typeface="Arial" panose="020B0604020202020204" pitchFamily="34" charset="0"/>
              </a:rPr>
              <a:t>Bản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thân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đã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phát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triển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kĩ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nhận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thấy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nỗ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lực</a:t>
            </a:r>
            <a:r>
              <a:rPr lang="en-US" sz="2800" dirty="0">
                <a:latin typeface="Arial" panose="020B0604020202020204" pitchFamily="34" charset="0"/>
              </a:rPr>
              <a:t>, …</a:t>
            </a:r>
          </a:p>
          <a:p>
            <a:r>
              <a:rPr lang="en-US" sz="2800" dirty="0">
                <a:latin typeface="Arial" panose="020B0604020202020204" pitchFamily="34" charset="0"/>
              </a:rPr>
              <a:t>- Tuy </a:t>
            </a:r>
            <a:r>
              <a:rPr lang="en-US" sz="2800" dirty="0" err="1">
                <a:latin typeface="Arial" panose="020B0604020202020204" pitchFamily="34" charset="0"/>
              </a:rPr>
              <a:t>vậy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vẫn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còn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nhiều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khuyết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điểm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sai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sót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cần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phải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sửa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đổi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để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giúp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bản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thân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đạt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hiệu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quả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tốt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hơn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trong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công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việc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cũng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như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giao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tiếp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mọi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người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xung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quanh</a:t>
            </a:r>
            <a:endParaRPr lang="en-US" sz="2800" dirty="0">
              <a:latin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</a:rPr>
              <a:t>=&gt; </a:t>
            </a:r>
            <a:r>
              <a:rPr lang="en-US" sz="2800" dirty="0" err="1">
                <a:latin typeface="Arial" panose="020B0604020202020204" pitchFamily="34" charset="0"/>
              </a:rPr>
              <a:t>Cảm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ơn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công</a:t>
            </a:r>
            <a:r>
              <a:rPr lang="en-US" sz="2800" dirty="0">
                <a:latin typeface="Arial" panose="020B0604020202020204" pitchFamily="34" charset="0"/>
              </a:rPr>
              <a:t> ty,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anh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đã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tạo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môi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trường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điều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kiện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để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phát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triển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cảm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ơn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bạn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cùng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thực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tập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đã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đồng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hành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cảm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ơn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chính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bản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thân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mình</a:t>
            </a:r>
            <a:r>
              <a:rPr lang="en-US" sz="2800" dirty="0"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0412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FEBCB-00B8-7877-290D-7421AABFA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94E68-C18F-CC79-E388-686F8DD8B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4619" y="2258689"/>
            <a:ext cx="10058400" cy="130058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9356461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429</TotalTime>
  <Words>1236</Words>
  <Application>Microsoft Office PowerPoint</Application>
  <PresentationFormat>Widescreen</PresentationFormat>
  <Paragraphs>115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Retrospect</vt:lpstr>
      <vt:lpstr>Báo cáo tổng kết thực tập đợt 1</vt:lpstr>
      <vt:lpstr>Nội dung báo cáo</vt:lpstr>
      <vt:lpstr>1. Tiến độ công việc</vt:lpstr>
      <vt:lpstr>1. Tiến độ công việc</vt:lpstr>
      <vt:lpstr>1. Tiến độ công việc</vt:lpstr>
      <vt:lpstr>2. Công việc đã thực hiện</vt:lpstr>
      <vt:lpstr>2. Công việc đã thực hiện</vt:lpstr>
      <vt:lpstr>2. Công việc đã thực hiện</vt:lpstr>
      <vt:lpstr>2. Công việc đã thực hiện</vt:lpstr>
      <vt:lpstr>2. Công việc đã thực hiện</vt:lpstr>
      <vt:lpstr>2. Công việc đã thực hiện</vt:lpstr>
      <vt:lpstr>2. Công việc đã thực hiện</vt:lpstr>
      <vt:lpstr>3. Vấn đề gặp phải và cách khắc phục</vt:lpstr>
      <vt:lpstr>3. Vấn đề gặp phải và cách khắc phục</vt:lpstr>
      <vt:lpstr>3. Vấn đề gặp phải và cách khắc phục</vt:lpstr>
      <vt:lpstr>4. Triển khai công việc tháng tiếp theo</vt:lpstr>
      <vt:lpstr>4. Triển khai công việc tháng tiếp theo</vt:lpstr>
      <vt:lpstr>Kết luận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Dat Nguyen</dc:creator>
  <cp:lastModifiedBy>Dat Nguyen</cp:lastModifiedBy>
  <cp:revision>24</cp:revision>
  <dcterms:created xsi:type="dcterms:W3CDTF">2025-10-30T08:55:12Z</dcterms:created>
  <dcterms:modified xsi:type="dcterms:W3CDTF">2026-01-07T02:29:53Z</dcterms:modified>
</cp:coreProperties>
</file>